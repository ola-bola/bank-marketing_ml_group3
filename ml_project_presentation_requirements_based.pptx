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68" autoAdjust="0"/>
    <p:restoredTop sz="94660"/>
  </p:normalViewPr>
  <p:slideViewPr>
    <p:cSldViewPr snapToGrid="0" snapToObjects="1">
      <p:cViewPr>
        <p:scale>
          <a:sx n="90" d="100"/>
          <a:sy n="90" d="100"/>
        </p:scale>
        <p:origin x="1812" y="41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5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 dirty="0">
                <a:solidFill>
                  <a:srgbClr val="FFFFFF"/>
                </a:solidFill>
              </a:rPr>
              <a:t>Predicting Who Will Subscribe
to a Bank Term Deposit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0" i="1" dirty="0">
                <a:solidFill>
                  <a:srgbClr val="E5A823"/>
                </a:solidFill>
              </a:rPr>
              <a:t>Can we predict whether a client will subscribe to a term deposit, based on demographic, financial, and previous campaign details for each client?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023360"/>
            <a:ext cx="3931920" cy="45720"/>
          </a:xfrm>
          <a:prstGeom prst="rect">
            <a:avLst/>
          </a:prstGeom>
          <a:solidFill>
            <a:srgbClr val="E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B0C4DE"/>
                </a:solidFill>
              </a:rPr>
              <a:t>Bank Marketing — ML Classification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dirty="0">
                <a:solidFill>
                  <a:srgbClr val="B0C4DE"/>
                </a:solidFill>
              </a:rPr>
              <a:t>University of Toronto  |  Data Sciences Institute  |  Group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88A4C4"/>
                </a:solidFill>
              </a:rPr>
              <a:t>Dataset: UCI Bank Marketing (45,211 records, 2008-2010)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DAB3AE-E740-94A1-3300-68F1287F4AC0}"/>
              </a:ext>
            </a:extLst>
          </p:cNvPr>
          <p:cNvSpPr txBox="1"/>
          <p:nvPr/>
        </p:nvSpPr>
        <p:spPr>
          <a:xfrm>
            <a:off x="745172" y="5620435"/>
            <a:ext cx="1069848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500" b="1" dirty="0">
                <a:solidFill>
                  <a:srgbClr val="B0C4DE"/>
                </a:solidFill>
              </a:rPr>
              <a:t>Project Team:</a:t>
            </a:r>
          </a:p>
          <a:p>
            <a:pPr algn="ctr"/>
            <a:endParaRPr lang="en-CA" sz="1500" b="1" dirty="0">
              <a:solidFill>
                <a:srgbClr val="B0C4DE"/>
              </a:solidFill>
            </a:endParaRPr>
          </a:p>
          <a:p>
            <a:pPr algn="ctr"/>
            <a:r>
              <a:rPr lang="en-CA" sz="1500" b="1" i="0" dirty="0">
                <a:solidFill>
                  <a:srgbClr val="B0C4DE"/>
                </a:solidFill>
              </a:rPr>
              <a:t>Morolake </a:t>
            </a:r>
            <a:r>
              <a:rPr lang="en-CA" sz="1500" b="1" i="0" dirty="0" err="1">
                <a:solidFill>
                  <a:srgbClr val="B0C4DE"/>
                </a:solidFill>
              </a:rPr>
              <a:t>Nwokoro</a:t>
            </a:r>
            <a:r>
              <a:rPr sz="1500" b="1" i="0" dirty="0">
                <a:solidFill>
                  <a:srgbClr val="B0C4DE"/>
                </a:solidFill>
              </a:rPr>
              <a:t>  |  </a:t>
            </a:r>
            <a:r>
              <a:rPr lang="en-CA" sz="1500" b="1" i="0" dirty="0">
                <a:solidFill>
                  <a:srgbClr val="B0C4DE"/>
                </a:solidFill>
              </a:rPr>
              <a:t>Anthony </a:t>
            </a:r>
            <a:r>
              <a:rPr lang="en-CA" sz="1500" b="1" i="0" dirty="0" err="1">
                <a:solidFill>
                  <a:srgbClr val="B0C4DE"/>
                </a:solidFill>
              </a:rPr>
              <a:t>Chude</a:t>
            </a:r>
            <a:r>
              <a:rPr lang="en-CA" sz="1500" b="1" i="0" dirty="0">
                <a:solidFill>
                  <a:srgbClr val="B0C4DE"/>
                </a:solidFill>
              </a:rPr>
              <a:t> </a:t>
            </a:r>
            <a:r>
              <a:rPr sz="1500" b="1" i="0" dirty="0">
                <a:solidFill>
                  <a:srgbClr val="B0C4DE"/>
                </a:solidFill>
              </a:rPr>
              <a:t>|  </a:t>
            </a:r>
            <a:r>
              <a:rPr lang="en-CA" sz="1500" b="1" i="0" dirty="0">
                <a:solidFill>
                  <a:srgbClr val="B0C4DE"/>
                </a:solidFill>
              </a:rPr>
              <a:t>Greg </a:t>
            </a:r>
            <a:r>
              <a:rPr lang="en-CA" sz="1500" b="1" i="0" dirty="0" err="1">
                <a:solidFill>
                  <a:srgbClr val="B0C4DE"/>
                </a:solidFill>
              </a:rPr>
              <a:t>Ealeifo</a:t>
            </a:r>
            <a:r>
              <a:rPr lang="en-CA" sz="1500" b="1" dirty="0">
                <a:solidFill>
                  <a:srgbClr val="B0C4DE"/>
                </a:solidFill>
              </a:rPr>
              <a:t> | Olga </a:t>
            </a:r>
            <a:r>
              <a:rPr lang="en-CA" sz="1500" b="1" dirty="0" err="1">
                <a:solidFill>
                  <a:srgbClr val="B0C4DE"/>
                </a:solidFill>
              </a:rPr>
              <a:t>Drobushko</a:t>
            </a:r>
            <a:endParaRPr sz="1500" b="1" i="0" dirty="0">
              <a:solidFill>
                <a:srgbClr val="B0C4D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212080" cy="679399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BUSINESS
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50876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5A823"/>
                </a:solidFill>
              </a:rPr>
              <a:t>88.3% of marketing
calls are wasted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42316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  A Portuguese bank ran 45,211 client calls over 2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24612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  Only 1 in 8.5 clients subscribed to a term deposit.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06908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  No way to predict in advance who would say YES.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89204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A823"/>
                </a:solidFill>
              </a:rPr>
              <a:t>&gt;&gt; Goal: Score clients BEFORE calling so sales teams focus
only on likely subscribers.</a:t>
            </a:r>
          </a:p>
        </p:txBody>
      </p:sp>
      <p:pic>
        <p:nvPicPr>
          <p:cNvPr id="10" name="Picture 9" descr="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"/>
            <a:ext cx="667512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</a:rPr>
              <a:t>The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A823"/>
                </a:solidFill>
              </a:rPr>
              <a:t>UCI Bank Marketing (id=222)  |  Portuguese retail bank  |  May 2008 – Nov 2010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06040" cy="12801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5A823"/>
                </a:solidFill>
              </a:rPr>
              <a:t>45,211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Client 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371600"/>
            <a:ext cx="2606040" cy="12801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0128" y="141732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5A823"/>
                </a:solidFill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2011680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Input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6" y="1371600"/>
            <a:ext cx="2606040" cy="12801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63056" y="141732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5A823"/>
                </a:solidFill>
              </a:rPr>
              <a:t>11.7%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6" y="2011680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Positive Rate (subscribed)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15984" y="1371600"/>
            <a:ext cx="2606040" cy="12801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15984" y="141732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5A823"/>
                </a:solidFill>
              </a:rPr>
              <a:t>2008-2010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5984" y="2011680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Campaign Period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34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55E"/>
                </a:solidFill>
              </a:rPr>
              <a:t>Feature Groups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83280"/>
            <a:ext cx="11247120" cy="51206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44728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Demographic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447288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age, job, marital, education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22776"/>
            <a:ext cx="1124712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98678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Financial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986784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account balance, housing loan, personal loan, credit default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62272"/>
            <a:ext cx="11247120" cy="51206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52628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Campaign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52628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number of contacts (campaign), days since last contact (pdays), previous contacts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001768"/>
            <a:ext cx="1124712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06577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Last Contact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065776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contact type, month, day of month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541264"/>
            <a:ext cx="11247120" cy="51206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56052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Engineered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5605272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previously_contacted  —  binary flag from pdays=999 sentinel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080760"/>
            <a:ext cx="1124712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614476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EXCLUDED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6144768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6B6B"/>
                </a:solidFill>
              </a:rPr>
              <a:t>duration (call length)  —  only known AFTER the call ends  →  data leakage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300" b="1" dirty="0">
                <a:solidFill>
                  <a:srgbClr val="FFFFFF"/>
                </a:solidFill>
              </a:rPr>
              <a:t>Our Approach: The </a:t>
            </a:r>
            <a:r>
              <a:rPr sz="3300" b="1" i="0" dirty="0">
                <a:solidFill>
                  <a:srgbClr val="FFFFFF"/>
                </a:solidFill>
              </a:rPr>
              <a:t>End-to-End ML Pipeline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A823"/>
                </a:solidFill>
              </a:rPr>
              <a:t>Automated  |  Reproducible  |  MLflow-tracked  |  Containerised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216152"/>
            <a:ext cx="1783080" cy="4206240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1168" y="1216152"/>
            <a:ext cx="1783080" cy="329184"/>
          </a:xfrm>
          <a:prstGeom prst="rect">
            <a:avLst/>
          </a:prstGeom>
          <a:solidFill>
            <a:srgbClr val="215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" y="1252728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DATA SOURCE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1216152"/>
            <a:ext cx="6473952" cy="4206240"/>
          </a:xfrm>
          <a:prstGeom prst="rect">
            <a:avLst/>
          </a:prstGeom>
          <a:solidFill>
            <a:srgbClr val="FE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057400" y="1216152"/>
            <a:ext cx="6473952" cy="329184"/>
          </a:xfrm>
          <a:prstGeom prst="rect">
            <a:avLst/>
          </a:prstGeom>
          <a:solidFill>
            <a:srgbClr val="D47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57400" y="1252728"/>
            <a:ext cx="6473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216152"/>
            <a:ext cx="3392424" cy="420624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95360" y="1216152"/>
            <a:ext cx="3392424" cy="32918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1252728"/>
            <a:ext cx="3392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OUTPUT &amp; SERVE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7180" y="2688336"/>
            <a:ext cx="1591056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7180" y="2688336"/>
            <a:ext cx="50292" cy="1481328"/>
          </a:xfrm>
          <a:prstGeom prst="rect">
            <a:avLst/>
          </a:prstGeom>
          <a:solidFill>
            <a:srgbClr val="215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7472" y="2688336"/>
            <a:ext cx="1540764" cy="457200"/>
          </a:xfrm>
          <a:prstGeom prst="rect">
            <a:avLst/>
          </a:prstGeom>
          <a:solidFill>
            <a:srgbClr val="215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2734056"/>
            <a:ext cx="15407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" y="3191256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5E"/>
                </a:solidFill>
              </a:rPr>
              <a:t>UCI 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" y="3465576"/>
            <a:ext cx="144475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55"/>
                </a:solidFill>
              </a:rPr>
              <a:t>Bank Marketing dataset
45,211 records
Public, anonymised
May 2008 - Nov 2010</a:t>
            </a:r>
          </a:p>
        </p:txBody>
      </p:sp>
      <p:sp>
        <p:nvSpPr>
          <p:cNvPr id="21" name="Oval 20"/>
          <p:cNvSpPr/>
          <p:nvPr/>
        </p:nvSpPr>
        <p:spPr>
          <a:xfrm>
            <a:off x="1668780" y="2551176"/>
            <a:ext cx="274320" cy="274320"/>
          </a:xfrm>
          <a:prstGeom prst="ellipse">
            <a:avLst/>
          </a:prstGeom>
          <a:solidFill>
            <a:srgbClr val="1A355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02536" y="3319272"/>
            <a:ext cx="54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7B10"/>
                </a:solidFill>
              </a:rPr>
              <a:t>&gt;&gt;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12264" y="2688336"/>
            <a:ext cx="1435608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112264" y="2688336"/>
            <a:ext cx="50292" cy="1481328"/>
          </a:xfrm>
          <a:prstGeom prst="rect">
            <a:avLst/>
          </a:prstGeom>
          <a:solidFill>
            <a:srgbClr val="D47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162556" y="2688336"/>
            <a:ext cx="1385316" cy="457200"/>
          </a:xfrm>
          <a:prstGeom prst="rect">
            <a:avLst/>
          </a:prstGeom>
          <a:solidFill>
            <a:srgbClr val="D47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62556" y="2734056"/>
            <a:ext cx="13853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21992" y="3191256"/>
            <a:ext cx="1289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5E"/>
                </a:solidFill>
              </a:rPr>
              <a:t>Ingest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21992" y="3465576"/>
            <a:ext cx="1289304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55"/>
                </a:solidFill>
              </a:rPr>
              <a:t>Download via UCI API
Save to CSV on disk
Load to PostgreSQL
raw_features table</a:t>
            </a:r>
          </a:p>
        </p:txBody>
      </p:sp>
      <p:sp>
        <p:nvSpPr>
          <p:cNvPr id="29" name="Oval 28"/>
          <p:cNvSpPr/>
          <p:nvPr/>
        </p:nvSpPr>
        <p:spPr>
          <a:xfrm>
            <a:off x="3328416" y="2551176"/>
            <a:ext cx="274320" cy="274320"/>
          </a:xfrm>
          <a:prstGeom prst="ellipse">
            <a:avLst/>
          </a:prstGeom>
          <a:solidFill>
            <a:srgbClr val="1A355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4448" y="3319272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7B10"/>
                </a:solidFill>
              </a:rPr>
              <a:t>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39896" y="2688336"/>
            <a:ext cx="1435608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739896" y="2688336"/>
            <a:ext cx="50292" cy="1481328"/>
          </a:xfrm>
          <a:prstGeom prst="rect">
            <a:avLst/>
          </a:prstGeom>
          <a:solidFill>
            <a:srgbClr val="D47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790188" y="2688336"/>
            <a:ext cx="1385316" cy="457200"/>
          </a:xfrm>
          <a:prstGeom prst="rect">
            <a:avLst/>
          </a:prstGeom>
          <a:solidFill>
            <a:srgbClr val="D47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90188" y="2734056"/>
            <a:ext cx="13853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9624" y="3191256"/>
            <a:ext cx="1289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5E"/>
                </a:solidFill>
              </a:rPr>
              <a:t>Preprocess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9624" y="3465576"/>
            <a:ext cx="1289304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55"/>
                </a:solidFill>
              </a:rPr>
              <a:t>Drop duration (leakage)
Encode target yes/no
Replace unknown -&gt; NaN
Engineer prev_contacted</a:t>
            </a:r>
          </a:p>
        </p:txBody>
      </p:sp>
      <p:sp>
        <p:nvSpPr>
          <p:cNvPr id="37" name="Oval 36"/>
          <p:cNvSpPr/>
          <p:nvPr/>
        </p:nvSpPr>
        <p:spPr>
          <a:xfrm>
            <a:off x="4956048" y="2551176"/>
            <a:ext cx="274320" cy="274320"/>
          </a:xfrm>
          <a:prstGeom prst="ellipse">
            <a:avLst/>
          </a:prstGeom>
          <a:solidFill>
            <a:srgbClr val="1A355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3319272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7B10"/>
                </a:solidFill>
              </a:rPr>
              <a:t>&gt;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67528" y="2688336"/>
            <a:ext cx="1435608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367528" y="2688336"/>
            <a:ext cx="50292" cy="1481328"/>
          </a:xfrm>
          <a:prstGeom prst="rect">
            <a:avLst/>
          </a:prstGeom>
          <a:solidFill>
            <a:srgbClr val="D47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417820" y="2688336"/>
            <a:ext cx="1385316" cy="457200"/>
          </a:xfrm>
          <a:prstGeom prst="rect">
            <a:avLst/>
          </a:prstGeom>
          <a:solidFill>
            <a:srgbClr val="D47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17820" y="2734056"/>
            <a:ext cx="13853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77256" y="3191256"/>
            <a:ext cx="1289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5E"/>
                </a:solidFill>
              </a:rPr>
              <a:t>Split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77256" y="3465576"/>
            <a:ext cx="1289304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55"/>
                </a:solidFill>
              </a:rPr>
              <a:t>Stratified 70/15/15
31,647 Train rows
6,782 Validation rows
6,782 Test rows</a:t>
            </a:r>
          </a:p>
        </p:txBody>
      </p:sp>
      <p:sp>
        <p:nvSpPr>
          <p:cNvPr id="45" name="Oval 44"/>
          <p:cNvSpPr/>
          <p:nvPr/>
        </p:nvSpPr>
        <p:spPr>
          <a:xfrm>
            <a:off x="6583680" y="2551176"/>
            <a:ext cx="274320" cy="274320"/>
          </a:xfrm>
          <a:prstGeom prst="ellipse">
            <a:avLst/>
          </a:prstGeom>
          <a:solidFill>
            <a:srgbClr val="1A355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9712" y="3319272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7B10"/>
                </a:solidFill>
              </a:rPr>
              <a:t>&gt;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95160" y="2688336"/>
            <a:ext cx="1435608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995160" y="2688336"/>
            <a:ext cx="50292" cy="1481328"/>
          </a:xfrm>
          <a:prstGeom prst="rect">
            <a:avLst/>
          </a:prstGeom>
          <a:solidFill>
            <a:srgbClr val="D47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045452" y="2688336"/>
            <a:ext cx="1385316" cy="457200"/>
          </a:xfrm>
          <a:prstGeom prst="rect">
            <a:avLst/>
          </a:prstGeom>
          <a:solidFill>
            <a:srgbClr val="D47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045452" y="2734056"/>
            <a:ext cx="13853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04888" y="3191256"/>
            <a:ext cx="1289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5E"/>
                </a:solidFill>
              </a:rPr>
              <a:t>Train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04888" y="3465576"/>
            <a:ext cx="1289304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55"/>
                </a:solidFill>
              </a:rPr>
              <a:t>3 model classifiers
5-fold CV each model
MLflow run logging
Save .pkl to models/</a:t>
            </a:r>
          </a:p>
        </p:txBody>
      </p:sp>
      <p:sp>
        <p:nvSpPr>
          <p:cNvPr id="53" name="Oval 52"/>
          <p:cNvSpPr/>
          <p:nvPr/>
        </p:nvSpPr>
        <p:spPr>
          <a:xfrm>
            <a:off x="8211312" y="2551176"/>
            <a:ext cx="274320" cy="274320"/>
          </a:xfrm>
          <a:prstGeom prst="ellipse">
            <a:avLst/>
          </a:prstGeom>
          <a:solidFill>
            <a:srgbClr val="1A355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76488" y="331927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&gt;&gt;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82812" y="1920240"/>
            <a:ext cx="3127248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782812" y="1920240"/>
            <a:ext cx="50292" cy="14813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833104" y="1920240"/>
            <a:ext cx="3076956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833104" y="1965960"/>
            <a:ext cx="30769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EV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92540" y="2423160"/>
            <a:ext cx="2980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5E"/>
                </a:solidFill>
              </a:rPr>
              <a:t>Evaluate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92540" y="2697480"/>
            <a:ext cx="2980944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55"/>
                </a:solidFill>
              </a:rPr>
              <a:t>ROC-AUC, F1, Precision, Recall
Confusion matrix + ROC curve
Threshold analysis CSV
reports/figures/*.png</a:t>
            </a:r>
          </a:p>
        </p:txBody>
      </p:sp>
      <p:sp>
        <p:nvSpPr>
          <p:cNvPr id="61" name="Oval 60"/>
          <p:cNvSpPr/>
          <p:nvPr/>
        </p:nvSpPr>
        <p:spPr>
          <a:xfrm>
            <a:off x="11690604" y="1783080"/>
            <a:ext cx="274320" cy="274320"/>
          </a:xfrm>
          <a:prstGeom prst="ellipse">
            <a:avLst/>
          </a:prstGeom>
          <a:solidFill>
            <a:srgbClr val="1A355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36708" y="3456432"/>
            <a:ext cx="237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v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82812" y="3474720"/>
            <a:ext cx="3127248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782812" y="3474720"/>
            <a:ext cx="50292" cy="14813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833104" y="3474720"/>
            <a:ext cx="3076956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833104" y="3520440"/>
            <a:ext cx="30769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92540" y="3977640"/>
            <a:ext cx="2980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5E"/>
                </a:solidFill>
              </a:rPr>
              <a:t>Store Results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92540" y="4251960"/>
            <a:ext cx="2980944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55"/>
                </a:solidFill>
              </a:rPr>
              <a:t>Predictions -&gt; PostgreSQL
Experiment results -&gt; PostgreSQL
Models -&gt; MLflow registry
Artefacts -&gt; mlflow/artifacts/</a:t>
            </a:r>
          </a:p>
        </p:txBody>
      </p:sp>
      <p:sp>
        <p:nvSpPr>
          <p:cNvPr id="69" name="Oval 68"/>
          <p:cNvSpPr/>
          <p:nvPr/>
        </p:nvSpPr>
        <p:spPr>
          <a:xfrm>
            <a:off x="11690604" y="3337560"/>
            <a:ext cx="274320" cy="274320"/>
          </a:xfrm>
          <a:prstGeom prst="ellipse">
            <a:avLst/>
          </a:prstGeom>
          <a:solidFill>
            <a:srgbClr val="1A355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1168" y="5522976"/>
            <a:ext cx="11786616" cy="1207008"/>
          </a:xfrm>
          <a:prstGeom prst="rect">
            <a:avLst/>
          </a:prstGeom>
          <a:solidFill>
            <a:srgbClr val="E0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201168" y="5522976"/>
            <a:ext cx="11786616" cy="246888"/>
          </a:xfrm>
          <a:prstGeom prst="rect">
            <a:avLst/>
          </a:prstGeom>
          <a:solidFill>
            <a:srgbClr val="4A5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01168" y="5541264"/>
            <a:ext cx="117866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Platform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9184" y="5815584"/>
            <a:ext cx="2029968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329184" y="5815584"/>
            <a:ext cx="50292" cy="777240"/>
          </a:xfrm>
          <a:prstGeom prst="rect">
            <a:avLst/>
          </a:prstGeom>
          <a:solidFill>
            <a:srgbClr val="215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38912" y="5888736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5E"/>
                </a:solidFill>
              </a:rPr>
              <a:t>Docker Compose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8912" y="6181344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55"/>
                </a:solidFill>
              </a:rPr>
              <a:t>Containerised infrastructure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523744" y="5815584"/>
            <a:ext cx="2029968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2523744" y="5815584"/>
            <a:ext cx="50292" cy="777240"/>
          </a:xfrm>
          <a:prstGeom prst="rect">
            <a:avLst/>
          </a:prstGeom>
          <a:solidFill>
            <a:srgbClr val="215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633472" y="5888736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5E"/>
                </a:solidFill>
              </a:rPr>
              <a:t>PostgreSQL 16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33472" y="6181344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55"/>
                </a:solidFill>
              </a:rPr>
              <a:t>4-table data store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718304" y="5815584"/>
            <a:ext cx="2029968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4718304" y="5815584"/>
            <a:ext cx="50292" cy="7772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828032" y="5888736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5E"/>
                </a:solidFill>
              </a:rPr>
              <a:t>MLflow 3.10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28032" y="6181344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55"/>
                </a:solidFill>
              </a:rPr>
              <a:t>Experiment tracking &amp; registry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912864" y="5815584"/>
            <a:ext cx="2029968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6912864" y="5815584"/>
            <a:ext cx="50292" cy="77724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022592" y="5888736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5E"/>
                </a:solidFill>
              </a:rPr>
              <a:t>scikit-learn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22592" y="6181344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55"/>
                </a:solidFill>
              </a:rPr>
              <a:t>ML pipeline (ColumnTransformer)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107424" y="5815584"/>
            <a:ext cx="2029968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9107424" y="5815584"/>
            <a:ext cx="50292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217152" y="5888736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5E"/>
                </a:solidFill>
              </a:rPr>
              <a:t>uv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17152" y="6181344"/>
            <a:ext cx="1901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55"/>
                </a:solidFill>
              </a:rPr>
              <a:t>Locked dependency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</a:rPr>
              <a:t>What the Data Tells Us</a:t>
            </a:r>
          </a:p>
        </p:txBody>
      </p:sp>
      <p:pic>
        <p:nvPicPr>
          <p:cNvPr id="5" name="Picture 4" descr="categorical_subscription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34440"/>
            <a:ext cx="7223760" cy="5394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43800" y="1280160"/>
            <a:ext cx="4343400" cy="5349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26679" y="1417320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55E"/>
                </a:solidFill>
              </a:rPr>
              <a:t>Key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011680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5EB5"/>
                </a:solidFill>
              </a:rPr>
              <a:t>Previous campaign SUCCESS: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331720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64.7% subscription rate
(vs 11.7% baseline) — most
actionable single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971800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5EB5"/>
                </a:solidFill>
              </a:rPr>
              <a:t>March &amp; December peak: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291840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Clients more open to term
deposits at year-start/end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931920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5EB5"/>
                </a:solidFill>
              </a:rPr>
              <a:t>Students &amp; Retired: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4251960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Highest subscription rate
by job type — target them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4892040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5EB5"/>
                </a:solidFill>
              </a:rPr>
              <a:t>No housing loan: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5212080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16.7% vs 7.7% for those
with loans — indicates
greater financial flexibility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5852160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5EB5"/>
                </a:solidFill>
              </a:rPr>
              <a:t>Fewer prior contacts: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6172200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Success drops sharply after
3+ contact attempts —
set outreach limits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</a:rPr>
              <a:t>Three Models Compared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A823"/>
                </a:solidFill>
              </a:rPr>
              <a:t>All trained with class-imbalance correction  |  5-fold stratified cross-validation</a:t>
            </a:r>
          </a:p>
        </p:txBody>
      </p:sp>
      <p:pic>
        <p:nvPicPr>
          <p:cNvPr id="6" name="Picture 5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34440"/>
            <a:ext cx="7680960" cy="5394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01000" y="1325880"/>
            <a:ext cx="3931920" cy="1691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75320" y="1417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Logistic
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15EB5"/>
                </a:solidFill>
              </a:rPr>
              <a:t>ROC-AUC: 0.7719   F1: 0.378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13055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Interpretable linear model.
Balanced class weights.
Good recall (0.64) but low precision.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3154680"/>
            <a:ext cx="3931920" cy="16916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01000" y="3154680"/>
            <a:ext cx="137160" cy="1691640"/>
          </a:xfrm>
          <a:prstGeom prst="rect">
            <a:avLst/>
          </a:prstGeom>
          <a:solidFill>
            <a:srgbClr val="E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3246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Random
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657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5A823"/>
                </a:solidFill>
              </a:rPr>
              <a:t>ROC-AUC: 0.8036   F1: 0.471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95935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300 estimators, balanced weights.
Best overall ROC-AUC.
Strongest balanced precision/recall.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4983480"/>
            <a:ext cx="3931920" cy="1691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5074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XGBoost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5486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5EB5"/>
                </a:solidFill>
              </a:rPr>
              <a:t>ROC-AUC: 0.8022   F1: 0.463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578815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scale_pos_weight=7 for imbalance.
Close to Random Forest.
Slightly higher recall.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</a:rPr>
              <a:t>Best Model: Random Forest — Test Set (6,782 clients)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A823"/>
                </a:solidFill>
              </a:rPr>
              <a:t>Held-out test set  |  Never seen during training or validation</a:t>
            </a:r>
          </a:p>
        </p:txBody>
      </p:sp>
      <p:pic>
        <p:nvPicPr>
          <p:cNvPr id="6" name="Picture 5" descr="roc_curve_random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5806440" cy="5212080"/>
          </a:xfrm>
          <a:prstGeom prst="rect">
            <a:avLst/>
          </a:prstGeom>
        </p:spPr>
      </p:pic>
      <p:pic>
        <p:nvPicPr>
          <p:cNvPr id="7" name="Picture 6" descr="confusion_matrix_random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280160"/>
            <a:ext cx="5029200" cy="5212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82880" y="6309360"/>
            <a:ext cx="5806440" cy="4572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32764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5A823"/>
                </a:solidFill>
              </a:rPr>
              <a:t>AUC = 0.80   |   Correctly identifies 52% of all actual subscribers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6309360"/>
            <a:ext cx="5029200" cy="4572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63276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5A823"/>
                </a:solidFill>
              </a:rPr>
              <a:t>TP=413  FP=539  FN=380  TN=5450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5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Business Impact — Quantified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6B"/>
                </a:solidFill>
              </a:rPr>
              <a:t>WITHOUT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64208"/>
            <a:ext cx="5212080" cy="489204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6B6B"/>
                </a:solidFill>
              </a:rPr>
              <a:t>6,782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5999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calls made across the test cohort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59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6B6B"/>
                </a:solidFill>
              </a:rPr>
              <a:t>793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39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actual subscribers in the test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199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6B6B"/>
                </a:solidFill>
              </a:rPr>
              <a:t>11.7%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79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success rate per call (baseline)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92039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6B6B"/>
                </a:solidFill>
              </a:rPr>
              <a:t>5,989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03519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wasted calls — no subscription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347472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5A823"/>
                </a:solidFill>
              </a:rPr>
              <a:t>&gt;&gt;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143000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7AE60"/>
                </a:solidFill>
              </a:rPr>
              <a:t>WITH the Model (Random Forest)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664208"/>
            <a:ext cx="5212080" cy="4892040"/>
          </a:xfrm>
          <a:prstGeom prst="rect">
            <a:avLst/>
          </a:prstGeom>
          <a:solidFill>
            <a:srgbClr val="1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1874519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7AE60"/>
                </a:solidFill>
              </a:rPr>
              <a:t>952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285999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clients flagged as likely subscribers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880359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7AE60"/>
                </a:solidFill>
              </a:rPr>
              <a:t>413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291839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actual subscribers correctly captured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886199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7AE60"/>
                </a:solidFill>
              </a:rPr>
              <a:t>43.4%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297679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success rate — 3.7x improvement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892039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7AE60"/>
                </a:solidFill>
              </a:rPr>
              <a:t>86%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303519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reduction in wasted outreach calls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92240"/>
            <a:ext cx="11247120" cy="292608"/>
          </a:xfrm>
          <a:prstGeom prst="rect">
            <a:avLst/>
          </a:prstGeom>
          <a:solidFill>
            <a:srgbClr val="E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55E"/>
                </a:solidFill>
              </a:rPr>
              <a:t>The model still captures 52% of ALL actual subscribers while reducing call volume by 86%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</a:rPr>
              <a:t>What Drives Subscription? — Actionable Insights from Feature Importance</a:t>
            </a:r>
          </a:p>
        </p:txBody>
      </p:sp>
      <p:pic>
        <p:nvPicPr>
          <p:cNvPr id="5" name="Picture 4" descr="feature_importance_random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34440"/>
            <a:ext cx="6400800" cy="5486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12280" y="1280160"/>
            <a:ext cx="5120640" cy="54406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95160" y="1417320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55E"/>
                </a:solidFill>
              </a:rPr>
              <a:t>Actionable Insights for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20116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5EB5"/>
                </a:solidFill>
              </a:rPr>
              <a:t>1. Account Balance (#1 driver)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331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Wealthier clients are more likely to invest.
Segment campaigns by estimated wealth tier.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9260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5EB5"/>
                </a:solidFill>
              </a:rPr>
              <a:t>2. Client Age (#2 driver)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3246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Middle-aged and retired clients subscribe
most. Adjust messaging by life stage.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38404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5EB5"/>
                </a:solidFill>
              </a:rPr>
              <a:t>3. Previous Campaign Success (#4)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160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64.7% repeat rate. Re-contact previous
subscribers first — highest ROI segment.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47548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5EB5"/>
                </a:solidFill>
              </a:rPr>
              <a:t>4. Number of Contacts (#7)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5074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Diminishing returns beyond 3 contacts.
Set a 3-call limit per campaign cycle.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56692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5EB5"/>
                </a:solidFill>
              </a:rPr>
              <a:t>5. Days Since Last Contact (#6)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5989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Recent contacts are warmer leads.
Prioritise clients contacted within 30 days.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5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Takeaways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669280" cy="548640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5A823"/>
                </a:solidFill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&gt;&gt; Random Forest: ROC-AUC = 0.80 on held-out test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59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&gt;&gt; 3.7x improvement in call success rate
(43% vs 11.7% baseline)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28999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&gt;&gt; 86% fewer calls needed to capture 52%
of all actual subscribers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206239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&gt;&gt; Previous campaign success is the strongest
actionable single predictor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983479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&gt;&gt; Balance + age enable wealth and life-stage
targeting for personalized outreach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760719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&gt;&gt; Full pipeline is reproducible end-to-end
with Docker, MLflow, and PostgreSQL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43000"/>
            <a:ext cx="5577840" cy="5486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2801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5A823"/>
                </a:solidFill>
              </a:rPr>
              <a:t>If We Had More Time...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745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EC8E3"/>
                </a:solidFill>
              </a:rPr>
              <a:t>SHAP Explainability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21991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Show per-client prediction drivers
to support agent decision-making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7889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EC8E3"/>
                </a:solidFill>
              </a:rPr>
              <a:t>Threshold Optimisation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136391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Tune the 0.5 cutoff to maximise
call-centre ROI given cost per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033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EC8E3"/>
                </a:solidFill>
              </a:rPr>
              <a:t>Hyperparameter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050791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Bayesian search for RF/XGBoost;
could push AUC above 0.82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6177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EC8E3"/>
                </a:solidFill>
              </a:rPr>
              <a:t>Real-Time Scoring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965191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FastAPI endpoint: score a new
client record before dialling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5321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EC8E3"/>
                </a:solidFill>
              </a:rPr>
              <a:t>Fairness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879591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Measure disparate impact across age,
education, and job groups (SHAP)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E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0" y="6419088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55E"/>
                </a:solidFill>
              </a:rPr>
              <a:t>MLflow UI: http://localhost:5000   |   All code &amp; data: see README   |   Group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5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A19E17-3049-C0F1-E15E-52FE57967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547622-9B7E-764E-25CB-4F68A6AA5A6C}"/>
              </a:ext>
            </a:extLst>
          </p:cNvPr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71617D-A328-CEBC-E689-7FF69324ACBB}"/>
              </a:ext>
            </a:extLst>
          </p:cNvPr>
          <p:cNvSpPr txBox="1"/>
          <p:nvPr/>
        </p:nvSpPr>
        <p:spPr>
          <a:xfrm>
            <a:off x="202019" y="2290163"/>
            <a:ext cx="112471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8000" b="1" i="0" dirty="0">
                <a:solidFill>
                  <a:srgbClr val="FFFFFF"/>
                </a:solidFill>
              </a:rPr>
              <a:t>Thank you!</a:t>
            </a:r>
            <a:endParaRPr sz="8000" b="1" i="0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A697A3-9574-514F-5D30-69CE2B056601}"/>
              </a:ext>
            </a:extLst>
          </p:cNvPr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E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09172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1239</TotalTime>
  <Words>1103</Words>
  <Application>Microsoft Office PowerPoint</Application>
  <PresentationFormat>Custom</PresentationFormat>
  <Paragraphs>168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gregory ealeifo</cp:lastModifiedBy>
  <cp:revision>5</cp:revision>
  <dcterms:created xsi:type="dcterms:W3CDTF">2013-01-27T09:14:16Z</dcterms:created>
  <dcterms:modified xsi:type="dcterms:W3CDTF">2026-03-07T00:17:22Z</dcterms:modified>
  <cp:category/>
</cp:coreProperties>
</file>